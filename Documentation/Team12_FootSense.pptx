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Bold" charset="1" panose="00000800000000000000"/>
      <p:regular r:id="rId18"/>
    </p:embeddedFon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Hammersmith One" charset="1" panose="02010703030501060504"/>
      <p:regular r:id="rId21"/>
    </p:embeddedFont>
    <p:embeddedFont>
      <p:font typeface="Glacial Indifference" charset="1" panose="00000000000000000000"/>
      <p:regular r:id="rId22"/>
    </p:embeddedFont>
    <p:embeddedFont>
      <p:font typeface="Agrandir" charset="1" panose="00000500000000000000"/>
      <p:regular r:id="rId23"/>
    </p:embeddedFont>
    <p:embeddedFont>
      <p:font typeface="Poppins Medium" charset="1" panose="000006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15" Target="../media/image44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45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69.png" Type="http://schemas.openxmlformats.org/officeDocument/2006/relationships/image"/><Relationship Id="rId15" Target="../media/image70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362010">
            <a:off x="7669737" y="-230591"/>
            <a:ext cx="10327713" cy="13854249"/>
          </a:xfrm>
          <a:custGeom>
            <a:avLst/>
            <a:gdLst/>
            <a:ahLst/>
            <a:cxnLst/>
            <a:rect r="r" b="b" t="t" l="l"/>
            <a:pathLst>
              <a:path h="13854249" w="10327713">
                <a:moveTo>
                  <a:pt x="0" y="13854249"/>
                </a:moveTo>
                <a:lnTo>
                  <a:pt x="10327714" y="13854249"/>
                </a:lnTo>
                <a:lnTo>
                  <a:pt x="10327714" y="0"/>
                </a:lnTo>
                <a:lnTo>
                  <a:pt x="0" y="0"/>
                </a:lnTo>
                <a:lnTo>
                  <a:pt x="0" y="138542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41704" y="0"/>
            <a:ext cx="8705718" cy="10287000"/>
            <a:chOff x="0" y="0"/>
            <a:chExt cx="718067" cy="848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8067" cy="848495"/>
            </a:xfrm>
            <a:custGeom>
              <a:avLst/>
              <a:gdLst/>
              <a:ahLst/>
              <a:cxnLst/>
              <a:rect r="r" b="b" t="t" l="l"/>
              <a:pathLst>
                <a:path h="848495" w="718067">
                  <a:moveTo>
                    <a:pt x="239485" y="829426"/>
                  </a:moveTo>
                  <a:cubicBezTo>
                    <a:pt x="276299" y="840940"/>
                    <a:pt x="318151" y="848495"/>
                    <a:pt x="359227" y="848495"/>
                  </a:cubicBezTo>
                  <a:cubicBezTo>
                    <a:pt x="400305" y="848495"/>
                    <a:pt x="439832" y="842018"/>
                    <a:pt x="476257" y="830504"/>
                  </a:cubicBezTo>
                  <a:cubicBezTo>
                    <a:pt x="477033" y="830145"/>
                    <a:pt x="477808" y="830145"/>
                    <a:pt x="478582" y="829786"/>
                  </a:cubicBezTo>
                  <a:cubicBezTo>
                    <a:pt x="615376" y="783730"/>
                    <a:pt x="716130" y="662116"/>
                    <a:pt x="718067" y="519200"/>
                  </a:cubicBezTo>
                  <a:lnTo>
                    <a:pt x="718067" y="0"/>
                  </a:lnTo>
                  <a:lnTo>
                    <a:pt x="0" y="0"/>
                  </a:lnTo>
                  <a:lnTo>
                    <a:pt x="0" y="518815"/>
                  </a:lnTo>
                  <a:cubicBezTo>
                    <a:pt x="1938" y="662835"/>
                    <a:pt x="101142" y="784450"/>
                    <a:pt x="239485" y="829426"/>
                  </a:cubicBezTo>
                  <a:close/>
                </a:path>
              </a:pathLst>
            </a:custGeom>
            <a:blipFill>
              <a:blip r:embed="rId4"/>
              <a:stretch>
                <a:fillRect l="0" t="-1003" r="0" b="-100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2863473" y="6116349"/>
            <a:ext cx="2019035" cy="3642449"/>
          </a:xfrm>
          <a:custGeom>
            <a:avLst/>
            <a:gdLst/>
            <a:ahLst/>
            <a:cxnLst/>
            <a:rect r="r" b="b" t="t" l="l"/>
            <a:pathLst>
              <a:path h="3642449" w="2019035">
                <a:moveTo>
                  <a:pt x="2019035" y="0"/>
                </a:moveTo>
                <a:lnTo>
                  <a:pt x="0" y="0"/>
                </a:lnTo>
                <a:lnTo>
                  <a:pt x="0" y="3642449"/>
                </a:lnTo>
                <a:lnTo>
                  <a:pt x="2019035" y="3642449"/>
                </a:lnTo>
                <a:lnTo>
                  <a:pt x="20190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0621" y="9758798"/>
            <a:ext cx="4368595" cy="571663"/>
            <a:chOff x="0" y="0"/>
            <a:chExt cx="812800" cy="1063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06361"/>
            </a:xfrm>
            <a:custGeom>
              <a:avLst/>
              <a:gdLst/>
              <a:ahLst/>
              <a:cxnLst/>
              <a:rect r="r" b="b" t="t" l="l"/>
              <a:pathLst>
                <a:path h="106361" w="812800">
                  <a:moveTo>
                    <a:pt x="406400" y="0"/>
                  </a:moveTo>
                  <a:cubicBezTo>
                    <a:pt x="181951" y="0"/>
                    <a:pt x="0" y="23810"/>
                    <a:pt x="0" y="53180"/>
                  </a:cubicBezTo>
                  <a:cubicBezTo>
                    <a:pt x="0" y="82551"/>
                    <a:pt x="181951" y="106361"/>
                    <a:pt x="406400" y="106361"/>
                  </a:cubicBezTo>
                  <a:cubicBezTo>
                    <a:pt x="630849" y="106361"/>
                    <a:pt x="812800" y="82551"/>
                    <a:pt x="812800" y="53180"/>
                  </a:cubicBezTo>
                  <a:cubicBezTo>
                    <a:pt x="812800" y="2381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56704"/>
              <a:ext cx="660400" cy="153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831513" y="6305652"/>
            <a:ext cx="2263925" cy="3738977"/>
          </a:xfrm>
          <a:custGeom>
            <a:avLst/>
            <a:gdLst/>
            <a:ahLst/>
            <a:cxnLst/>
            <a:rect r="r" b="b" t="t" l="l"/>
            <a:pathLst>
              <a:path h="3738977" w="2263925">
                <a:moveTo>
                  <a:pt x="2263925" y="0"/>
                </a:moveTo>
                <a:lnTo>
                  <a:pt x="0" y="0"/>
                </a:lnTo>
                <a:lnTo>
                  <a:pt x="0" y="3738977"/>
                </a:lnTo>
                <a:lnTo>
                  <a:pt x="2263925" y="3738977"/>
                </a:lnTo>
                <a:lnTo>
                  <a:pt x="226392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97468" y="8185460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8" y="0"/>
                </a:lnTo>
                <a:lnTo>
                  <a:pt x="2916968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98552" y="9301989"/>
            <a:ext cx="1197833" cy="1197833"/>
          </a:xfrm>
          <a:custGeom>
            <a:avLst/>
            <a:gdLst/>
            <a:ahLst/>
            <a:cxnLst/>
            <a:rect r="r" b="b" t="t" l="l"/>
            <a:pathLst>
              <a:path h="1197833" w="1197833">
                <a:moveTo>
                  <a:pt x="0" y="0"/>
                </a:moveTo>
                <a:lnTo>
                  <a:pt x="1197832" y="0"/>
                </a:lnTo>
                <a:lnTo>
                  <a:pt x="1197832" y="1197833"/>
                </a:lnTo>
                <a:lnTo>
                  <a:pt x="0" y="119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88476" y="9436896"/>
            <a:ext cx="523240" cy="5232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843655" y="-1948928"/>
            <a:ext cx="8288237" cy="7052536"/>
          </a:xfrm>
          <a:custGeom>
            <a:avLst/>
            <a:gdLst/>
            <a:ahLst/>
            <a:cxnLst/>
            <a:rect r="r" b="b" t="t" l="l"/>
            <a:pathLst>
              <a:path h="7052536" w="8288237">
                <a:moveTo>
                  <a:pt x="0" y="0"/>
                </a:moveTo>
                <a:lnTo>
                  <a:pt x="8288237" y="0"/>
                </a:lnTo>
                <a:lnTo>
                  <a:pt x="8288237" y="7052536"/>
                </a:lnTo>
                <a:lnTo>
                  <a:pt x="0" y="705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882508" y="-593564"/>
            <a:ext cx="1029208" cy="4114800"/>
          </a:xfrm>
          <a:custGeom>
            <a:avLst/>
            <a:gdLst/>
            <a:ahLst/>
            <a:cxnLst/>
            <a:rect r="r" b="b" t="t" l="l"/>
            <a:pathLst>
              <a:path h="4114800" w="1029208">
                <a:moveTo>
                  <a:pt x="0" y="0"/>
                </a:moveTo>
                <a:lnTo>
                  <a:pt x="1029208" y="0"/>
                </a:lnTo>
                <a:lnTo>
                  <a:pt x="1029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684254" y="-441164"/>
            <a:ext cx="609924" cy="2438491"/>
          </a:xfrm>
          <a:custGeom>
            <a:avLst/>
            <a:gdLst/>
            <a:ahLst/>
            <a:cxnLst/>
            <a:rect r="r" b="b" t="t" l="l"/>
            <a:pathLst>
              <a:path h="2438491" w="609924">
                <a:moveTo>
                  <a:pt x="0" y="0"/>
                </a:moveTo>
                <a:lnTo>
                  <a:pt x="609924" y="0"/>
                </a:lnTo>
                <a:lnTo>
                  <a:pt x="609924" y="2438491"/>
                </a:lnTo>
                <a:lnTo>
                  <a:pt x="0" y="24384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39882" y="-133962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498552" y="2921126"/>
            <a:ext cx="523240" cy="52324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22088" y="364061"/>
            <a:ext cx="828040" cy="82804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42875" cap="sq">
              <a:solidFill>
                <a:srgbClr val="3D4B7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21416" y="9968"/>
            <a:ext cx="9628468" cy="164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6"/>
              </a:lnSpc>
            </a:pPr>
            <a:r>
              <a:rPr lang="en-US" sz="8268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FootSense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5522" y="1921127"/>
            <a:ext cx="8986346" cy="187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646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smart insole tracker </a:t>
            </a:r>
          </a:p>
          <a:p>
            <a:pPr algn="l">
              <a:lnSpc>
                <a:spcPts val="3705"/>
              </a:lnSpc>
            </a:pPr>
          </a:p>
          <a:p>
            <a:pPr algn="l">
              <a:lnSpc>
                <a:spcPts val="3705"/>
              </a:lnSpc>
            </a:pPr>
            <a:r>
              <a:rPr lang="en-US" sz="2646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A 10 crore rupee problem,</a:t>
            </a:r>
          </a:p>
          <a:p>
            <a:pPr algn="l">
              <a:lnSpc>
                <a:spcPts val="3705"/>
              </a:lnSpc>
            </a:pPr>
            <a:r>
              <a:rPr lang="en-US" sz="2646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 solved with a soldering iron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60172" y="5846558"/>
            <a:ext cx="2610575" cy="118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7"/>
              </a:lnSpc>
            </a:pPr>
            <a:r>
              <a:rPr lang="en-US" sz="2227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By: Arnav Gupta </a:t>
            </a:r>
          </a:p>
          <a:p>
            <a:pPr algn="ctr">
              <a:lnSpc>
                <a:spcPts val="3117"/>
              </a:lnSpc>
            </a:pPr>
            <a:r>
              <a:rPr lang="en-US" sz="2227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Kinjal Mehta </a:t>
            </a:r>
          </a:p>
          <a:p>
            <a:pPr algn="ctr">
              <a:lnSpc>
                <a:spcPts val="3117"/>
              </a:lnSpc>
              <a:spcBef>
                <a:spcPct val="0"/>
              </a:spcBef>
            </a:pPr>
            <a:r>
              <a:rPr lang="en-US" b="true" sz="2227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Kiyansh Mahajan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8158" y="-234758"/>
            <a:ext cx="7394345" cy="11922099"/>
          </a:xfrm>
          <a:custGeom>
            <a:avLst/>
            <a:gdLst/>
            <a:ahLst/>
            <a:cxnLst/>
            <a:rect r="r" b="b" t="t" l="l"/>
            <a:pathLst>
              <a:path h="11922099" w="7394345">
                <a:moveTo>
                  <a:pt x="0" y="0"/>
                </a:moveTo>
                <a:lnTo>
                  <a:pt x="7394345" y="0"/>
                </a:lnTo>
                <a:lnTo>
                  <a:pt x="7394345" y="11922099"/>
                </a:lnTo>
                <a:lnTo>
                  <a:pt x="0" y="11922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317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9846" y="8505488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49440">
            <a:off x="13219126" y="4404800"/>
            <a:ext cx="5965256" cy="5932718"/>
          </a:xfrm>
          <a:custGeom>
            <a:avLst/>
            <a:gdLst/>
            <a:ahLst/>
            <a:cxnLst/>
            <a:rect r="r" b="b" t="t" l="l"/>
            <a:pathLst>
              <a:path h="5932718" w="5965256">
                <a:moveTo>
                  <a:pt x="0" y="0"/>
                </a:moveTo>
                <a:lnTo>
                  <a:pt x="5965256" y="0"/>
                </a:lnTo>
                <a:lnTo>
                  <a:pt x="5965256" y="5932719"/>
                </a:lnTo>
                <a:lnTo>
                  <a:pt x="0" y="5932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01754" y="299844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8" y="0"/>
                </a:lnTo>
                <a:lnTo>
                  <a:pt x="2916968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84617" y="1028700"/>
            <a:ext cx="5303458" cy="8395093"/>
            <a:chOff x="0" y="0"/>
            <a:chExt cx="1254925" cy="19864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925" cy="1986480"/>
            </a:xfrm>
            <a:custGeom>
              <a:avLst/>
              <a:gdLst/>
              <a:ahLst/>
              <a:cxnLst/>
              <a:rect r="r" b="b" t="t" l="l"/>
              <a:pathLst>
                <a:path h="1986480" w="1254925">
                  <a:moveTo>
                    <a:pt x="43794" y="0"/>
                  </a:moveTo>
                  <a:lnTo>
                    <a:pt x="1211132" y="0"/>
                  </a:lnTo>
                  <a:cubicBezTo>
                    <a:pt x="1235318" y="0"/>
                    <a:pt x="1254925" y="19607"/>
                    <a:pt x="1254925" y="43794"/>
                  </a:cubicBezTo>
                  <a:lnTo>
                    <a:pt x="1254925" y="1942687"/>
                  </a:lnTo>
                  <a:cubicBezTo>
                    <a:pt x="1254925" y="1966873"/>
                    <a:pt x="1235318" y="1986480"/>
                    <a:pt x="1211132" y="1986480"/>
                  </a:cubicBezTo>
                  <a:lnTo>
                    <a:pt x="43794" y="1986480"/>
                  </a:lnTo>
                  <a:cubicBezTo>
                    <a:pt x="19607" y="1986480"/>
                    <a:pt x="0" y="1966873"/>
                    <a:pt x="0" y="1942687"/>
                  </a:cubicBezTo>
                  <a:lnTo>
                    <a:pt x="0" y="43794"/>
                  </a:lnTo>
                  <a:cubicBezTo>
                    <a:pt x="0" y="19607"/>
                    <a:pt x="19607" y="0"/>
                    <a:pt x="43794" y="0"/>
                  </a:cubicBezTo>
                  <a:close/>
                </a:path>
              </a:pathLst>
            </a:custGeom>
            <a:blipFill>
              <a:blip r:embed="rId8"/>
              <a:stretch>
                <a:fillRect l="-757" t="0" r="-75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002912" y="4033016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7"/>
                </a:lnTo>
                <a:lnTo>
                  <a:pt x="0" y="5630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04619" y="5523633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7" y="0"/>
                </a:lnTo>
                <a:lnTo>
                  <a:pt x="563047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002912" y="7433350"/>
            <a:ext cx="563046" cy="563046"/>
          </a:xfrm>
          <a:custGeom>
            <a:avLst/>
            <a:gdLst/>
            <a:ahLst/>
            <a:cxnLst/>
            <a:rect r="r" b="b" t="t" l="l"/>
            <a:pathLst>
              <a:path h="563046" w="563046">
                <a:moveTo>
                  <a:pt x="0" y="0"/>
                </a:moveTo>
                <a:lnTo>
                  <a:pt x="563046" y="0"/>
                </a:lnTo>
                <a:lnTo>
                  <a:pt x="563046" y="563046"/>
                </a:lnTo>
                <a:lnTo>
                  <a:pt x="0" y="5630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7090167" y="2506068"/>
            <a:ext cx="1197833" cy="1197833"/>
          </a:xfrm>
          <a:custGeom>
            <a:avLst/>
            <a:gdLst/>
            <a:ahLst/>
            <a:cxnLst/>
            <a:rect r="r" b="b" t="t" l="l"/>
            <a:pathLst>
              <a:path h="1197833" w="1197833">
                <a:moveTo>
                  <a:pt x="0" y="0"/>
                </a:moveTo>
                <a:lnTo>
                  <a:pt x="1197833" y="0"/>
                </a:lnTo>
                <a:lnTo>
                  <a:pt x="1197833" y="1197833"/>
                </a:lnTo>
                <a:lnTo>
                  <a:pt x="0" y="119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77870" y="6947441"/>
            <a:ext cx="5398812" cy="3116093"/>
          </a:xfrm>
          <a:custGeom>
            <a:avLst/>
            <a:gdLst/>
            <a:ahLst/>
            <a:cxnLst/>
            <a:rect r="r" b="b" t="t" l="l"/>
            <a:pathLst>
              <a:path h="3116093" w="5398812">
                <a:moveTo>
                  <a:pt x="0" y="0"/>
                </a:moveTo>
                <a:lnTo>
                  <a:pt x="5398813" y="0"/>
                </a:lnTo>
                <a:lnTo>
                  <a:pt x="5398813" y="3116093"/>
                </a:lnTo>
                <a:lnTo>
                  <a:pt x="0" y="31160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002912" y="1854812"/>
            <a:ext cx="647498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6813" y="3885279"/>
            <a:ext cx="4881057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9–18% of I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ndians show flat feet, depending on which clinical test you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use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8521" y="5375896"/>
            <a:ext cx="488105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One 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study of traffic police in Gujarat found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flat feet in 33–34% of officers — mostly from standing all day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6813" y="7285613"/>
            <a:ext cx="506379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24.8%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prevalence found in a Delhi hospital s</a:t>
            </a:r>
            <a:r>
              <a:rPr lang="en-US" sz="23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creening study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5699" y="-1310846"/>
            <a:ext cx="11238575" cy="15648649"/>
          </a:xfrm>
          <a:custGeom>
            <a:avLst/>
            <a:gdLst/>
            <a:ahLst/>
            <a:cxnLst/>
            <a:rect r="r" b="b" t="t" l="l"/>
            <a:pathLst>
              <a:path h="15648649" w="11238575">
                <a:moveTo>
                  <a:pt x="0" y="0"/>
                </a:moveTo>
                <a:lnTo>
                  <a:pt x="11238575" y="0"/>
                </a:lnTo>
                <a:lnTo>
                  <a:pt x="11238575" y="15648649"/>
                </a:lnTo>
                <a:lnTo>
                  <a:pt x="0" y="15648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81741" y="1600825"/>
            <a:ext cx="8406259" cy="9166456"/>
            <a:chOff x="0" y="0"/>
            <a:chExt cx="901327" cy="982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46049" y="0"/>
                  </a:moveTo>
                  <a:lnTo>
                    <a:pt x="855279" y="0"/>
                  </a:lnTo>
                  <a:cubicBezTo>
                    <a:pt x="880711" y="0"/>
                    <a:pt x="901327" y="20617"/>
                    <a:pt x="901327" y="46049"/>
                  </a:cubicBezTo>
                  <a:lnTo>
                    <a:pt x="901327" y="936788"/>
                  </a:lnTo>
                  <a:cubicBezTo>
                    <a:pt x="901327" y="962220"/>
                    <a:pt x="880711" y="982836"/>
                    <a:pt x="855279" y="982836"/>
                  </a:cubicBezTo>
                  <a:lnTo>
                    <a:pt x="46049" y="982836"/>
                  </a:lnTo>
                  <a:cubicBezTo>
                    <a:pt x="20617" y="982836"/>
                    <a:pt x="0" y="962220"/>
                    <a:pt x="0" y="936788"/>
                  </a:cubicBezTo>
                  <a:lnTo>
                    <a:pt x="0" y="46049"/>
                  </a:lnTo>
                  <a:cubicBezTo>
                    <a:pt x="0" y="20617"/>
                    <a:pt x="20617" y="0"/>
                    <a:pt x="46049" y="0"/>
                  </a:cubicBezTo>
                  <a:close/>
                </a:path>
              </a:pathLst>
            </a:custGeom>
            <a:blipFill>
              <a:blip r:embed="rId4"/>
              <a:stretch>
                <a:fillRect l="-27169" t="0" r="-27169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634147"/>
            <a:ext cx="1018706" cy="1018706"/>
          </a:xfrm>
          <a:custGeom>
            <a:avLst/>
            <a:gdLst/>
            <a:ahLst/>
            <a:cxnLst/>
            <a:rect r="r" b="b" t="t" l="l"/>
            <a:pathLst>
              <a:path h="1018706" w="1018706">
                <a:moveTo>
                  <a:pt x="0" y="0"/>
                </a:moveTo>
                <a:lnTo>
                  <a:pt x="1018706" y="0"/>
                </a:lnTo>
                <a:lnTo>
                  <a:pt x="1018706" y="1018706"/>
                </a:lnTo>
                <a:lnTo>
                  <a:pt x="0" y="1018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4965" y="187258"/>
            <a:ext cx="11482755" cy="158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19"/>
              </a:lnSpc>
            </a:pPr>
            <a:r>
              <a:rPr lang="en-US" sz="9199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Expensive Way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84746"/>
            <a:ext cx="6751106" cy="1819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8"/>
              </a:lnSpc>
            </a:pPr>
            <a:r>
              <a:rPr lang="en-US" sz="5234">
                <a:solidFill>
                  <a:srgbClr val="1C1C1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Clinical Gait Analysis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690953"/>
            <a:ext cx="4897777" cy="8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8"/>
              </a:lnSpc>
            </a:pPr>
            <a:r>
              <a:rPr lang="en-US" sz="5234">
                <a:solidFill>
                  <a:srgbClr val="1C1C1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FootSense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930310"/>
            <a:ext cx="855154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3D</a:t>
            </a:r>
            <a:r>
              <a:rPr lang="en-US" sz="32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Gait Analysis System: ₹10,00,000+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C1C1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FootSense: a few hundred rupees in sensors and a Sunday at Maker's Asylum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84644" y="-813529"/>
            <a:ext cx="8393705" cy="11259849"/>
          </a:xfrm>
          <a:custGeom>
            <a:avLst/>
            <a:gdLst/>
            <a:ahLst/>
            <a:cxnLst/>
            <a:rect r="r" b="b" t="t" l="l"/>
            <a:pathLst>
              <a:path h="11259849" w="8393705">
                <a:moveTo>
                  <a:pt x="8393706" y="0"/>
                </a:moveTo>
                <a:lnTo>
                  <a:pt x="0" y="0"/>
                </a:lnTo>
                <a:lnTo>
                  <a:pt x="0" y="11259848"/>
                </a:lnTo>
                <a:lnTo>
                  <a:pt x="8393706" y="11259848"/>
                </a:lnTo>
                <a:lnTo>
                  <a:pt x="83937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6518" y="3922279"/>
            <a:ext cx="2472654" cy="5722022"/>
          </a:xfrm>
          <a:custGeom>
            <a:avLst/>
            <a:gdLst/>
            <a:ahLst/>
            <a:cxnLst/>
            <a:rect r="r" b="b" t="t" l="l"/>
            <a:pathLst>
              <a:path h="5722022" w="2472654">
                <a:moveTo>
                  <a:pt x="0" y="0"/>
                </a:moveTo>
                <a:lnTo>
                  <a:pt x="2472655" y="0"/>
                </a:lnTo>
                <a:lnTo>
                  <a:pt x="2472655" y="5722022"/>
                </a:lnTo>
                <a:lnTo>
                  <a:pt x="0" y="572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304663" y="-1299928"/>
            <a:ext cx="6616364" cy="5629924"/>
          </a:xfrm>
          <a:custGeom>
            <a:avLst/>
            <a:gdLst/>
            <a:ahLst/>
            <a:cxnLst/>
            <a:rect r="r" b="b" t="t" l="l"/>
            <a:pathLst>
              <a:path h="5629924" w="6616364">
                <a:moveTo>
                  <a:pt x="6616364" y="0"/>
                </a:moveTo>
                <a:lnTo>
                  <a:pt x="0" y="0"/>
                </a:lnTo>
                <a:lnTo>
                  <a:pt x="0" y="5629924"/>
                </a:lnTo>
                <a:lnTo>
                  <a:pt x="6616364" y="5629924"/>
                </a:lnTo>
                <a:lnTo>
                  <a:pt x="661636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31492" y="-1458484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57384" y="703412"/>
            <a:ext cx="867435" cy="650577"/>
          </a:xfrm>
          <a:custGeom>
            <a:avLst/>
            <a:gdLst/>
            <a:ahLst/>
            <a:cxnLst/>
            <a:rect r="r" b="b" t="t" l="l"/>
            <a:pathLst>
              <a:path h="650577" w="867435">
                <a:moveTo>
                  <a:pt x="0" y="0"/>
                </a:moveTo>
                <a:lnTo>
                  <a:pt x="867436" y="0"/>
                </a:lnTo>
                <a:lnTo>
                  <a:pt x="867436" y="650576"/>
                </a:lnTo>
                <a:lnTo>
                  <a:pt x="0" y="650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135614"/>
            <a:ext cx="5058798" cy="3035776"/>
          </a:xfrm>
          <a:custGeom>
            <a:avLst/>
            <a:gdLst/>
            <a:ahLst/>
            <a:cxnLst/>
            <a:rect r="r" b="b" t="t" l="l"/>
            <a:pathLst>
              <a:path h="3035776" w="5058798">
                <a:moveTo>
                  <a:pt x="0" y="0"/>
                </a:moveTo>
                <a:lnTo>
                  <a:pt x="5058798" y="0"/>
                </a:lnTo>
                <a:lnTo>
                  <a:pt x="5058798" y="3035776"/>
                </a:lnTo>
                <a:lnTo>
                  <a:pt x="0" y="3035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936" t="-6199" r="-240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43740" y="1934528"/>
            <a:ext cx="3765322" cy="2853400"/>
          </a:xfrm>
          <a:custGeom>
            <a:avLst/>
            <a:gdLst/>
            <a:ahLst/>
            <a:cxnLst/>
            <a:rect r="r" b="b" t="t" l="l"/>
            <a:pathLst>
              <a:path h="2853400" w="3765322">
                <a:moveTo>
                  <a:pt x="0" y="0"/>
                </a:moveTo>
                <a:lnTo>
                  <a:pt x="3765322" y="0"/>
                </a:lnTo>
                <a:lnTo>
                  <a:pt x="3765322" y="2853400"/>
                </a:lnTo>
                <a:lnTo>
                  <a:pt x="0" y="2853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554" t="-8931" r="-323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9026" y="3506424"/>
            <a:ext cx="3864714" cy="3883752"/>
          </a:xfrm>
          <a:custGeom>
            <a:avLst/>
            <a:gdLst/>
            <a:ahLst/>
            <a:cxnLst/>
            <a:rect r="r" b="b" t="t" l="l"/>
            <a:pathLst>
              <a:path h="3883752" w="3864714">
                <a:moveTo>
                  <a:pt x="0" y="0"/>
                </a:moveTo>
                <a:lnTo>
                  <a:pt x="3864714" y="0"/>
                </a:lnTo>
                <a:lnTo>
                  <a:pt x="3864714" y="3883752"/>
                </a:lnTo>
                <a:lnTo>
                  <a:pt x="0" y="38837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35996" y="7390176"/>
            <a:ext cx="5655293" cy="2557192"/>
          </a:xfrm>
          <a:custGeom>
            <a:avLst/>
            <a:gdLst/>
            <a:ahLst/>
            <a:cxnLst/>
            <a:rect r="r" b="b" t="t" l="l"/>
            <a:pathLst>
              <a:path h="2557192" w="5655293">
                <a:moveTo>
                  <a:pt x="0" y="0"/>
                </a:moveTo>
                <a:lnTo>
                  <a:pt x="5655293" y="0"/>
                </a:lnTo>
                <a:lnTo>
                  <a:pt x="5655293" y="2557192"/>
                </a:lnTo>
                <a:lnTo>
                  <a:pt x="0" y="255719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326" t="-17847" r="-325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48857" y="2281093"/>
            <a:ext cx="6658648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0"/>
              </a:lnSpc>
            </a:pPr>
            <a:r>
              <a:rPr lang="en-US" sz="66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What’s Actually in the Shoe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8857" y="4474845"/>
            <a:ext cx="6099022" cy="4531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036" indent="-307518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3 f</a:t>
            </a: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lex sensors → arch shape (flat / nor</a:t>
            </a: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mal / high)</a:t>
            </a:r>
          </a:p>
          <a:p>
            <a:pPr algn="l" marL="615036" indent="-307518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2 piezo discs → heel &amp; forefoot impact</a:t>
            </a:r>
          </a:p>
          <a:p>
            <a:pPr algn="l" marL="615036" indent="-307518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MPU6050 → step count &amp; impact angle</a:t>
            </a:r>
          </a:p>
          <a:p>
            <a:pPr algn="l" marL="615036" indent="-307518" lvl="1">
              <a:lnSpc>
                <a:spcPts val="3988"/>
              </a:lnSpc>
              <a:buFont typeface="Arial"/>
              <a:buChar char="•"/>
            </a:pPr>
            <a:r>
              <a:rPr lang="en-US" sz="284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ESP32 → WiFi → live dashboard</a:t>
            </a:r>
          </a:p>
          <a:p>
            <a:pPr algn="l">
              <a:lnSpc>
                <a:spcPts val="398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39254" y="2804912"/>
            <a:ext cx="1087972" cy="54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8"/>
              </a:lnSpc>
              <a:spcBef>
                <a:spcPct val="0"/>
              </a:spcBef>
            </a:pPr>
            <a:r>
              <a:rPr lang="en-US" sz="3013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ESP32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4159" y="4896865"/>
            <a:ext cx="1404484" cy="42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MPU6050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447" y="7388018"/>
            <a:ext cx="1767953" cy="45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sz="251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flex sensor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2209" y="8982678"/>
            <a:ext cx="1664221" cy="47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  <a:spcBef>
                <a:spcPct val="0"/>
              </a:spcBef>
            </a:pPr>
            <a:r>
              <a:rPr lang="en-US" sz="2644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piezo disc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05258" y="120076"/>
            <a:ext cx="10101950" cy="10046848"/>
          </a:xfrm>
          <a:custGeom>
            <a:avLst/>
            <a:gdLst/>
            <a:ahLst/>
            <a:cxnLst/>
            <a:rect r="r" b="b" t="t" l="l"/>
            <a:pathLst>
              <a:path h="10046848" w="10101950">
                <a:moveTo>
                  <a:pt x="0" y="0"/>
                </a:moveTo>
                <a:lnTo>
                  <a:pt x="10101949" y="0"/>
                </a:lnTo>
                <a:lnTo>
                  <a:pt x="10101949" y="10046848"/>
                </a:lnTo>
                <a:lnTo>
                  <a:pt x="0" y="1004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862828" y="925545"/>
            <a:ext cx="5742995" cy="4091591"/>
            <a:chOff x="0" y="0"/>
            <a:chExt cx="1379518" cy="982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9518" cy="982836"/>
            </a:xfrm>
            <a:custGeom>
              <a:avLst/>
              <a:gdLst/>
              <a:ahLst/>
              <a:cxnLst/>
              <a:rect r="r" b="b" t="t" l="l"/>
              <a:pathLst>
                <a:path h="982836" w="1379518">
                  <a:moveTo>
                    <a:pt x="33702" y="0"/>
                  </a:moveTo>
                  <a:lnTo>
                    <a:pt x="1345817" y="0"/>
                  </a:lnTo>
                  <a:cubicBezTo>
                    <a:pt x="1364430" y="0"/>
                    <a:pt x="1379518" y="15089"/>
                    <a:pt x="1379518" y="33702"/>
                  </a:cubicBezTo>
                  <a:lnTo>
                    <a:pt x="1379518" y="949135"/>
                  </a:lnTo>
                  <a:cubicBezTo>
                    <a:pt x="1379518" y="967748"/>
                    <a:pt x="1364430" y="982836"/>
                    <a:pt x="1345817" y="982836"/>
                  </a:cubicBezTo>
                  <a:lnTo>
                    <a:pt x="33702" y="982836"/>
                  </a:lnTo>
                  <a:cubicBezTo>
                    <a:pt x="24763" y="982836"/>
                    <a:pt x="16191" y="979286"/>
                    <a:pt x="9871" y="972965"/>
                  </a:cubicBezTo>
                  <a:cubicBezTo>
                    <a:pt x="3551" y="966645"/>
                    <a:pt x="0" y="958073"/>
                    <a:pt x="0" y="949135"/>
                  </a:cubicBezTo>
                  <a:lnTo>
                    <a:pt x="0" y="33702"/>
                  </a:lnTo>
                  <a:cubicBezTo>
                    <a:pt x="0" y="24763"/>
                    <a:pt x="3551" y="16191"/>
                    <a:pt x="9871" y="9871"/>
                  </a:cubicBezTo>
                  <a:cubicBezTo>
                    <a:pt x="16191" y="3551"/>
                    <a:pt x="24763" y="0"/>
                    <a:pt x="3370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06" r="0" b="-14703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14561" y="522065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078" y="805271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4561" y="602556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4561" y="6827804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86514" y="2161177"/>
            <a:ext cx="3184122" cy="1991523"/>
          </a:xfrm>
          <a:custGeom>
            <a:avLst/>
            <a:gdLst/>
            <a:ahLst/>
            <a:cxnLst/>
            <a:rect r="r" b="b" t="t" l="l"/>
            <a:pathLst>
              <a:path h="1991523" w="3184122">
                <a:moveTo>
                  <a:pt x="0" y="0"/>
                </a:moveTo>
                <a:lnTo>
                  <a:pt x="3184122" y="0"/>
                </a:lnTo>
                <a:lnTo>
                  <a:pt x="3184122" y="1991524"/>
                </a:lnTo>
                <a:lnTo>
                  <a:pt x="0" y="19915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17521" y="-830020"/>
            <a:ext cx="4892441" cy="5900971"/>
          </a:xfrm>
          <a:custGeom>
            <a:avLst/>
            <a:gdLst/>
            <a:ahLst/>
            <a:cxnLst/>
            <a:rect r="r" b="b" t="t" l="l"/>
            <a:pathLst>
              <a:path h="5900971" w="4892441">
                <a:moveTo>
                  <a:pt x="0" y="0"/>
                </a:moveTo>
                <a:lnTo>
                  <a:pt x="4892442" y="0"/>
                </a:lnTo>
                <a:lnTo>
                  <a:pt x="4892442" y="5900970"/>
                </a:lnTo>
                <a:lnTo>
                  <a:pt x="0" y="590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01140" y="3945566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8" y="0"/>
                </a:lnTo>
                <a:lnTo>
                  <a:pt x="2916968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57098" y="-188826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05460" y="5939156"/>
            <a:ext cx="523240" cy="52324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32992" y="120076"/>
            <a:ext cx="523240" cy="52324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39942" y="5508477"/>
            <a:ext cx="6543063" cy="4582385"/>
            <a:chOff x="0" y="0"/>
            <a:chExt cx="1772308" cy="12412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72308" cy="1241223"/>
            </a:xfrm>
            <a:custGeom>
              <a:avLst/>
              <a:gdLst/>
              <a:ahLst/>
              <a:cxnLst/>
              <a:rect r="r" b="b" t="t" l="l"/>
              <a:pathLst>
                <a:path h="1241223" w="1772308">
                  <a:moveTo>
                    <a:pt x="29581" y="0"/>
                  </a:moveTo>
                  <a:lnTo>
                    <a:pt x="1742728" y="0"/>
                  </a:lnTo>
                  <a:cubicBezTo>
                    <a:pt x="1750573" y="0"/>
                    <a:pt x="1758097" y="3117"/>
                    <a:pt x="1763644" y="8664"/>
                  </a:cubicBezTo>
                  <a:cubicBezTo>
                    <a:pt x="1769192" y="14211"/>
                    <a:pt x="1772308" y="21735"/>
                    <a:pt x="1772308" y="29581"/>
                  </a:cubicBezTo>
                  <a:lnTo>
                    <a:pt x="1772308" y="1211642"/>
                  </a:lnTo>
                  <a:cubicBezTo>
                    <a:pt x="1772308" y="1219487"/>
                    <a:pt x="1769192" y="1227011"/>
                    <a:pt x="1763644" y="1232559"/>
                  </a:cubicBezTo>
                  <a:cubicBezTo>
                    <a:pt x="1758097" y="1238106"/>
                    <a:pt x="1750573" y="1241223"/>
                    <a:pt x="1742728" y="1241223"/>
                  </a:cubicBezTo>
                  <a:lnTo>
                    <a:pt x="29581" y="1241223"/>
                  </a:lnTo>
                  <a:cubicBezTo>
                    <a:pt x="21735" y="1241223"/>
                    <a:pt x="14211" y="1238106"/>
                    <a:pt x="8664" y="1232559"/>
                  </a:cubicBezTo>
                  <a:cubicBezTo>
                    <a:pt x="3117" y="1227011"/>
                    <a:pt x="0" y="1219487"/>
                    <a:pt x="0" y="1211642"/>
                  </a:cubicBezTo>
                  <a:lnTo>
                    <a:pt x="0" y="29581"/>
                  </a:lnTo>
                  <a:cubicBezTo>
                    <a:pt x="0" y="21735"/>
                    <a:pt x="3117" y="14211"/>
                    <a:pt x="8664" y="8664"/>
                  </a:cubicBezTo>
                  <a:cubicBezTo>
                    <a:pt x="14211" y="3117"/>
                    <a:pt x="21735" y="0"/>
                    <a:pt x="29581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-6922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929331" y="5404049"/>
            <a:ext cx="4969444" cy="3601465"/>
            <a:chOff x="0" y="0"/>
            <a:chExt cx="1356157" cy="9828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56157" cy="982836"/>
            </a:xfrm>
            <a:custGeom>
              <a:avLst/>
              <a:gdLst/>
              <a:ahLst/>
              <a:cxnLst/>
              <a:rect r="r" b="b" t="t" l="l"/>
              <a:pathLst>
                <a:path h="982836" w="1356157">
                  <a:moveTo>
                    <a:pt x="38948" y="0"/>
                  </a:moveTo>
                  <a:lnTo>
                    <a:pt x="1317209" y="0"/>
                  </a:lnTo>
                  <a:cubicBezTo>
                    <a:pt x="1338719" y="0"/>
                    <a:pt x="1356157" y="17437"/>
                    <a:pt x="1356157" y="38948"/>
                  </a:cubicBezTo>
                  <a:lnTo>
                    <a:pt x="1356157" y="943889"/>
                  </a:lnTo>
                  <a:cubicBezTo>
                    <a:pt x="1356157" y="954218"/>
                    <a:pt x="1352053" y="964125"/>
                    <a:pt x="1344749" y="971429"/>
                  </a:cubicBezTo>
                  <a:cubicBezTo>
                    <a:pt x="1337445" y="978733"/>
                    <a:pt x="1327539" y="982836"/>
                    <a:pt x="1317209" y="982836"/>
                  </a:cubicBezTo>
                  <a:lnTo>
                    <a:pt x="38948" y="982836"/>
                  </a:lnTo>
                  <a:cubicBezTo>
                    <a:pt x="28618" y="982836"/>
                    <a:pt x="18712" y="978733"/>
                    <a:pt x="11407" y="971429"/>
                  </a:cubicBezTo>
                  <a:cubicBezTo>
                    <a:pt x="4103" y="964125"/>
                    <a:pt x="0" y="954218"/>
                    <a:pt x="0" y="943889"/>
                  </a:cubicBezTo>
                  <a:lnTo>
                    <a:pt x="0" y="38948"/>
                  </a:lnTo>
                  <a:cubicBezTo>
                    <a:pt x="0" y="28618"/>
                    <a:pt x="4103" y="18712"/>
                    <a:pt x="11407" y="11407"/>
                  </a:cubicBezTo>
                  <a:cubicBezTo>
                    <a:pt x="18712" y="4103"/>
                    <a:pt x="28618" y="0"/>
                    <a:pt x="38948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23058" r="0" b="-20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692078" y="2327707"/>
            <a:ext cx="665864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It Talks Back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83602" y="5137625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Real Time Arch Bend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61119" y="7969685"/>
            <a:ext cx="353924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Step Count + Impact Angle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3602" y="5942531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Foot Diagnosis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3602" y="6744771"/>
            <a:ext cx="3539246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Pressure (Graph and Data)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8736" y="3612060"/>
            <a:ext cx="4384871" cy="76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5"/>
              </a:lnSpc>
            </a:pPr>
            <a:r>
              <a:rPr lang="en-US" sz="4477">
                <a:solidFill>
                  <a:srgbClr val="1C1C1C"/>
                </a:solidFill>
                <a:latin typeface="Agrandir"/>
                <a:ea typeface="Agrandir"/>
                <a:cs typeface="Agrandir"/>
                <a:sym typeface="Agrandir"/>
              </a:rPr>
              <a:t>Live Dashboard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1714" y="-900786"/>
            <a:ext cx="9967300" cy="11187786"/>
          </a:xfrm>
          <a:custGeom>
            <a:avLst/>
            <a:gdLst/>
            <a:ahLst/>
            <a:cxnLst/>
            <a:rect r="r" b="b" t="t" l="l"/>
            <a:pathLst>
              <a:path h="11187786" w="9967300">
                <a:moveTo>
                  <a:pt x="0" y="0"/>
                </a:moveTo>
                <a:lnTo>
                  <a:pt x="9967300" y="0"/>
                </a:lnTo>
                <a:lnTo>
                  <a:pt x="9967300" y="11187786"/>
                </a:lnTo>
                <a:lnTo>
                  <a:pt x="0" y="111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955" y="1403841"/>
            <a:ext cx="8262250" cy="6167116"/>
            <a:chOff x="0" y="0"/>
            <a:chExt cx="1040792" cy="776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0792" cy="776869"/>
            </a:xfrm>
            <a:custGeom>
              <a:avLst/>
              <a:gdLst/>
              <a:ahLst/>
              <a:cxnLst/>
              <a:rect r="r" b="b" t="t" l="l"/>
              <a:pathLst>
                <a:path h="776869" w="1040792">
                  <a:moveTo>
                    <a:pt x="28111" y="0"/>
                  </a:moveTo>
                  <a:lnTo>
                    <a:pt x="1012682" y="0"/>
                  </a:lnTo>
                  <a:cubicBezTo>
                    <a:pt x="1020137" y="0"/>
                    <a:pt x="1027287" y="2962"/>
                    <a:pt x="1032559" y="8233"/>
                  </a:cubicBezTo>
                  <a:cubicBezTo>
                    <a:pt x="1037831" y="13505"/>
                    <a:pt x="1040792" y="20655"/>
                    <a:pt x="1040792" y="28111"/>
                  </a:cubicBezTo>
                  <a:lnTo>
                    <a:pt x="1040792" y="748759"/>
                  </a:lnTo>
                  <a:cubicBezTo>
                    <a:pt x="1040792" y="764284"/>
                    <a:pt x="1028207" y="776869"/>
                    <a:pt x="1012682" y="776869"/>
                  </a:cubicBezTo>
                  <a:lnTo>
                    <a:pt x="28111" y="776869"/>
                  </a:lnTo>
                  <a:cubicBezTo>
                    <a:pt x="12586" y="776869"/>
                    <a:pt x="0" y="764284"/>
                    <a:pt x="0" y="748759"/>
                  </a:cubicBezTo>
                  <a:lnTo>
                    <a:pt x="0" y="28111"/>
                  </a:lnTo>
                  <a:cubicBezTo>
                    <a:pt x="0" y="12586"/>
                    <a:pt x="12586" y="0"/>
                    <a:pt x="281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96" r="0" b="-369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21189" y="7570956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14055">
            <a:off x="15123515" y="-980535"/>
            <a:ext cx="3560946" cy="5743461"/>
          </a:xfrm>
          <a:custGeom>
            <a:avLst/>
            <a:gdLst/>
            <a:ahLst/>
            <a:cxnLst/>
            <a:rect r="r" b="b" t="t" l="l"/>
            <a:pathLst>
              <a:path h="5743461" w="3560946">
                <a:moveTo>
                  <a:pt x="0" y="0"/>
                </a:moveTo>
                <a:lnTo>
                  <a:pt x="3560946" y="0"/>
                </a:lnTo>
                <a:lnTo>
                  <a:pt x="3560946" y="5743461"/>
                </a:lnTo>
                <a:lnTo>
                  <a:pt x="0" y="5743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14916" y="9258300"/>
            <a:ext cx="523240" cy="52324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90777" y="2356015"/>
            <a:ext cx="647498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Truth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5911" y="3813975"/>
            <a:ext cx="9204347" cy="506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Load cel</a:t>
            </a: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l + 4-sensor bridge: didn't work, never fully diagnosed why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Switched to flex sensors + piezo discs/velostat ins</a:t>
            </a: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tead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Chased ghost GPIO pins across three different boards</a:t>
            </a:r>
          </a:p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Eventually got a working ESP32 + WiFi + live dashboard pipeline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8158" y="-234758"/>
            <a:ext cx="7394345" cy="11922099"/>
          </a:xfrm>
          <a:custGeom>
            <a:avLst/>
            <a:gdLst/>
            <a:ahLst/>
            <a:cxnLst/>
            <a:rect r="r" b="b" t="t" l="l"/>
            <a:pathLst>
              <a:path h="11922099" w="7394345">
                <a:moveTo>
                  <a:pt x="0" y="0"/>
                </a:moveTo>
                <a:lnTo>
                  <a:pt x="7394345" y="0"/>
                </a:lnTo>
                <a:lnTo>
                  <a:pt x="7394345" y="11922099"/>
                </a:lnTo>
                <a:lnTo>
                  <a:pt x="0" y="11922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317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49440">
            <a:off x="13219126" y="4404800"/>
            <a:ext cx="5965256" cy="5932718"/>
          </a:xfrm>
          <a:custGeom>
            <a:avLst/>
            <a:gdLst/>
            <a:ahLst/>
            <a:cxnLst/>
            <a:rect r="r" b="b" t="t" l="l"/>
            <a:pathLst>
              <a:path h="5932718" w="5965256">
                <a:moveTo>
                  <a:pt x="0" y="0"/>
                </a:moveTo>
                <a:lnTo>
                  <a:pt x="5965256" y="0"/>
                </a:lnTo>
                <a:lnTo>
                  <a:pt x="5965256" y="5932719"/>
                </a:lnTo>
                <a:lnTo>
                  <a:pt x="0" y="5932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2491843"/>
            <a:ext cx="8207238" cy="6425206"/>
            <a:chOff x="0" y="0"/>
            <a:chExt cx="2537431" cy="19864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7431" cy="1986480"/>
            </a:xfrm>
            <a:custGeom>
              <a:avLst/>
              <a:gdLst/>
              <a:ahLst/>
              <a:cxnLst/>
              <a:rect r="r" b="b" t="t" l="l"/>
              <a:pathLst>
                <a:path h="1986480" w="2537431">
                  <a:moveTo>
                    <a:pt x="28299" y="0"/>
                  </a:moveTo>
                  <a:lnTo>
                    <a:pt x="2509132" y="0"/>
                  </a:lnTo>
                  <a:cubicBezTo>
                    <a:pt x="2524761" y="0"/>
                    <a:pt x="2537431" y="12670"/>
                    <a:pt x="2537431" y="28299"/>
                  </a:cubicBezTo>
                  <a:lnTo>
                    <a:pt x="2537431" y="1958181"/>
                  </a:lnTo>
                  <a:cubicBezTo>
                    <a:pt x="2537431" y="1973810"/>
                    <a:pt x="2524761" y="1986480"/>
                    <a:pt x="2509132" y="1986480"/>
                  </a:cubicBezTo>
                  <a:lnTo>
                    <a:pt x="28299" y="1986480"/>
                  </a:lnTo>
                  <a:cubicBezTo>
                    <a:pt x="20794" y="1986480"/>
                    <a:pt x="13596" y="1983499"/>
                    <a:pt x="8289" y="1978192"/>
                  </a:cubicBezTo>
                  <a:cubicBezTo>
                    <a:pt x="2982" y="1972885"/>
                    <a:pt x="0" y="1965687"/>
                    <a:pt x="0" y="1958181"/>
                  </a:cubicBezTo>
                  <a:lnTo>
                    <a:pt x="0" y="28299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299" y="0"/>
                  </a:cubicBezTo>
                  <a:close/>
                </a:path>
              </a:pathLst>
            </a:custGeom>
            <a:blipFill>
              <a:blip r:embed="rId6"/>
              <a:stretch>
                <a:fillRect l="-2306" t="0" r="-230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71759" y="2396593"/>
            <a:ext cx="9150422" cy="652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Pressure-sensitive sheet, not discrete se</a:t>
            </a: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nsors</a:t>
            </a:r>
          </a:p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Resistance drops the harder you press — wired as a simple voltage divider</a:t>
            </a:r>
          </a:p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Gives a continuous pressure map instead of fixed points</a:t>
            </a:r>
          </a:p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Closer to what ₹10,00,000 clinical mats actually do</a:t>
            </a:r>
          </a:p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Tradeoff: more finicky to calibrate consistently</a:t>
            </a:r>
          </a:p>
          <a:p>
            <a:pPr algn="l" marL="664554" indent="-332277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Built in</a:t>
            </a:r>
            <a:r>
              <a:rPr lang="en-US" sz="307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parallel — not a replacement, a second real path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1216" y="914400"/>
            <a:ext cx="966556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Velostat Version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9347" y="0"/>
            <a:ext cx="11632138" cy="10976509"/>
          </a:xfrm>
          <a:custGeom>
            <a:avLst/>
            <a:gdLst/>
            <a:ahLst/>
            <a:cxnLst/>
            <a:rect r="r" b="b" t="t" l="l"/>
            <a:pathLst>
              <a:path h="10976509" w="11632138">
                <a:moveTo>
                  <a:pt x="0" y="0"/>
                </a:moveTo>
                <a:lnTo>
                  <a:pt x="11632138" y="0"/>
                </a:lnTo>
                <a:lnTo>
                  <a:pt x="11632138" y="10976509"/>
                </a:lnTo>
                <a:lnTo>
                  <a:pt x="0" y="1097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61063" y="8185460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-375710" y="6324305"/>
            <a:ext cx="3560946" cy="5743461"/>
          </a:xfrm>
          <a:custGeom>
            <a:avLst/>
            <a:gdLst/>
            <a:ahLst/>
            <a:cxnLst/>
            <a:rect r="r" b="b" t="t" l="l"/>
            <a:pathLst>
              <a:path h="5743461" w="3560946">
                <a:moveTo>
                  <a:pt x="3560946" y="0"/>
                </a:moveTo>
                <a:lnTo>
                  <a:pt x="0" y="0"/>
                </a:lnTo>
                <a:lnTo>
                  <a:pt x="0" y="5743461"/>
                </a:lnTo>
                <a:lnTo>
                  <a:pt x="3560946" y="5743461"/>
                </a:lnTo>
                <a:lnTo>
                  <a:pt x="35609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799443" y="9382324"/>
            <a:ext cx="523240" cy="5232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73995" y="8934416"/>
            <a:ext cx="523240" cy="52324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351383" y="293409"/>
            <a:ext cx="6936617" cy="8233456"/>
          </a:xfrm>
          <a:custGeom>
            <a:avLst/>
            <a:gdLst/>
            <a:ahLst/>
            <a:cxnLst/>
            <a:rect r="r" b="b" t="t" l="l"/>
            <a:pathLst>
              <a:path h="8233456" w="6936617">
                <a:moveTo>
                  <a:pt x="0" y="0"/>
                </a:moveTo>
                <a:lnTo>
                  <a:pt x="6936617" y="0"/>
                </a:lnTo>
                <a:lnTo>
                  <a:pt x="6936617" y="8233456"/>
                </a:lnTo>
                <a:lnTo>
                  <a:pt x="0" y="82334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444" t="-9374" r="0" b="-1581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8972" y="667627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Truth Again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541" y="3989124"/>
            <a:ext cx="6896149" cy="223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785" indent="-341393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This</a:t>
            </a:r>
            <a:r>
              <a:rPr lang="en-US" sz="3162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is a relative signal, not a medical diagnosis</a:t>
            </a:r>
          </a:p>
          <a:p>
            <a:pPr algn="l" marL="682785" indent="-341393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Tested on one person, on one foot.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8972" y="2957668"/>
            <a:ext cx="6896149" cy="68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794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Honest Limitations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075268" y="4095475"/>
            <a:ext cx="4137463" cy="5897710"/>
          </a:xfrm>
          <a:custGeom>
            <a:avLst/>
            <a:gdLst/>
            <a:ahLst/>
            <a:cxnLst/>
            <a:rect r="r" b="b" t="t" l="l"/>
            <a:pathLst>
              <a:path h="5897710" w="4137463">
                <a:moveTo>
                  <a:pt x="0" y="0"/>
                </a:moveTo>
                <a:lnTo>
                  <a:pt x="4137464" y="0"/>
                </a:lnTo>
                <a:lnTo>
                  <a:pt x="4137464" y="5897710"/>
                </a:lnTo>
                <a:lnTo>
                  <a:pt x="0" y="5897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783" r="0" b="-1799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47838">
            <a:off x="-1012792" y="4730134"/>
            <a:ext cx="4892441" cy="5900971"/>
          </a:xfrm>
          <a:custGeom>
            <a:avLst/>
            <a:gdLst/>
            <a:ahLst/>
            <a:cxnLst/>
            <a:rect r="r" b="b" t="t" l="l"/>
            <a:pathLst>
              <a:path h="5900971" w="4892441">
                <a:moveTo>
                  <a:pt x="0" y="0"/>
                </a:moveTo>
                <a:lnTo>
                  <a:pt x="4892441" y="0"/>
                </a:lnTo>
                <a:lnTo>
                  <a:pt x="4892441" y="5900971"/>
                </a:lnTo>
                <a:lnTo>
                  <a:pt x="0" y="5900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4864" y="6613652"/>
            <a:ext cx="421619" cy="421619"/>
          </a:xfrm>
          <a:custGeom>
            <a:avLst/>
            <a:gdLst/>
            <a:ahLst/>
            <a:cxnLst/>
            <a:rect r="r" b="b" t="t" l="l"/>
            <a:pathLst>
              <a:path h="421619" w="421619">
                <a:moveTo>
                  <a:pt x="0" y="0"/>
                </a:moveTo>
                <a:lnTo>
                  <a:pt x="421619" y="0"/>
                </a:lnTo>
                <a:lnTo>
                  <a:pt x="421619" y="421619"/>
                </a:lnTo>
                <a:lnTo>
                  <a:pt x="0" y="421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81634" y="6613652"/>
            <a:ext cx="421619" cy="421619"/>
          </a:xfrm>
          <a:custGeom>
            <a:avLst/>
            <a:gdLst/>
            <a:ahLst/>
            <a:cxnLst/>
            <a:rect r="r" b="b" t="t" l="l"/>
            <a:pathLst>
              <a:path h="421619" w="421619">
                <a:moveTo>
                  <a:pt x="0" y="0"/>
                </a:moveTo>
                <a:lnTo>
                  <a:pt x="421619" y="0"/>
                </a:lnTo>
                <a:lnTo>
                  <a:pt x="421619" y="421619"/>
                </a:lnTo>
                <a:lnTo>
                  <a:pt x="0" y="421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1103363" y="-224185"/>
            <a:ext cx="8144445" cy="7048647"/>
          </a:xfrm>
          <a:custGeom>
            <a:avLst/>
            <a:gdLst/>
            <a:ahLst/>
            <a:cxnLst/>
            <a:rect r="r" b="b" t="t" l="l"/>
            <a:pathLst>
              <a:path h="7048647" w="8144445">
                <a:moveTo>
                  <a:pt x="8144445" y="7048647"/>
                </a:moveTo>
                <a:lnTo>
                  <a:pt x="0" y="7048647"/>
                </a:lnTo>
                <a:lnTo>
                  <a:pt x="0" y="0"/>
                </a:lnTo>
                <a:lnTo>
                  <a:pt x="8144445" y="0"/>
                </a:lnTo>
                <a:lnTo>
                  <a:pt x="8144445" y="70486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12377" y="6613652"/>
            <a:ext cx="421619" cy="421619"/>
          </a:xfrm>
          <a:custGeom>
            <a:avLst/>
            <a:gdLst/>
            <a:ahLst/>
            <a:cxnLst/>
            <a:rect r="r" b="b" t="t" l="l"/>
            <a:pathLst>
              <a:path h="421619" w="421619">
                <a:moveTo>
                  <a:pt x="0" y="0"/>
                </a:moveTo>
                <a:lnTo>
                  <a:pt x="421619" y="0"/>
                </a:lnTo>
                <a:lnTo>
                  <a:pt x="421619" y="421619"/>
                </a:lnTo>
                <a:lnTo>
                  <a:pt x="0" y="4216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098401" y="5588422"/>
            <a:ext cx="5077185" cy="0"/>
          </a:xfrm>
          <a:prstGeom prst="line">
            <a:avLst/>
          </a:prstGeom>
          <a:ln cap="rnd" w="38100">
            <a:solidFill>
              <a:srgbClr val="1C1C1C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74864" y="8828516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8" y="0"/>
                </a:lnTo>
                <a:lnTo>
                  <a:pt x="2916968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53893" y="-587131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164983" y="9376545"/>
            <a:ext cx="523240" cy="52324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33350" cap="sq">
              <a:solidFill>
                <a:srgbClr val="3D4B7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82131" y="1386020"/>
            <a:ext cx="14323739" cy="4641952"/>
          </a:xfrm>
          <a:custGeom>
            <a:avLst/>
            <a:gdLst/>
            <a:ahLst/>
            <a:cxnLst/>
            <a:rect r="r" b="b" t="t" l="l"/>
            <a:pathLst>
              <a:path h="4641952" w="14323739">
                <a:moveTo>
                  <a:pt x="0" y="0"/>
                </a:moveTo>
                <a:lnTo>
                  <a:pt x="14323738" y="0"/>
                </a:lnTo>
                <a:lnTo>
                  <a:pt x="14323738" y="4641952"/>
                </a:lnTo>
                <a:lnTo>
                  <a:pt x="0" y="4641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26758" y="7150870"/>
            <a:ext cx="4109303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Testing the product and collecting data. Doing further extensive research and training a neural network to develop an AI/ML finished software. Connect with doctors, share the data and use their feedback.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29540" y="7150870"/>
            <a:ext cx="3983596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Launch the product on a small scale, connect with shoe/footwear giants and look to expand the product’s functionality and make more iterations.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17047" y="6578717"/>
            <a:ext cx="334296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Q1 D</a:t>
            </a: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evelopment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17047" y="7150870"/>
            <a:ext cx="4019112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Finaliz</a:t>
            </a:r>
            <a:r>
              <a:rPr lang="en-US" sz="2000" strike="noStrike" u="none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e innovative product design and successfully complete precise sensor calibration process. Design a finalised protected prototupe and apply for a license,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6758" y="6578717"/>
            <a:ext cx="346399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Q2</a:t>
            </a: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 Testing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29540" y="6578717"/>
            <a:ext cx="340944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Q3</a:t>
            </a:r>
            <a:r>
              <a:rPr lang="en-US" b="true" sz="2400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 Awareness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81634" y="32835"/>
            <a:ext cx="6378541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R</a:t>
            </a:r>
            <a:r>
              <a:rPr lang="en-US" b="true" sz="6800" strike="noStrike" u="non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oad</a:t>
            </a:r>
            <a:r>
              <a:rPr lang="en-US" b="true" sz="6800" strike="noStrike" u="non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map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199481" y="129031"/>
            <a:ext cx="8918106" cy="10616793"/>
          </a:xfrm>
          <a:custGeom>
            <a:avLst/>
            <a:gdLst/>
            <a:ahLst/>
            <a:cxnLst/>
            <a:rect r="r" b="b" t="t" l="l"/>
            <a:pathLst>
              <a:path h="10616793" w="8918106">
                <a:moveTo>
                  <a:pt x="8918106" y="0"/>
                </a:moveTo>
                <a:lnTo>
                  <a:pt x="0" y="0"/>
                </a:lnTo>
                <a:lnTo>
                  <a:pt x="0" y="10616793"/>
                </a:lnTo>
                <a:lnTo>
                  <a:pt x="8918106" y="10616793"/>
                </a:lnTo>
                <a:lnTo>
                  <a:pt x="89181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98062" y="8185460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587941" y="3223289"/>
            <a:ext cx="10731941" cy="9131906"/>
          </a:xfrm>
          <a:custGeom>
            <a:avLst/>
            <a:gdLst/>
            <a:ahLst/>
            <a:cxnLst/>
            <a:rect r="r" b="b" t="t" l="l"/>
            <a:pathLst>
              <a:path h="9131906" w="10731941">
                <a:moveTo>
                  <a:pt x="0" y="9131906"/>
                </a:moveTo>
                <a:lnTo>
                  <a:pt x="10731941" y="9131906"/>
                </a:lnTo>
                <a:lnTo>
                  <a:pt x="10731941" y="0"/>
                </a:lnTo>
                <a:lnTo>
                  <a:pt x="0" y="0"/>
                </a:lnTo>
                <a:lnTo>
                  <a:pt x="0" y="913190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94069" y="9422535"/>
            <a:ext cx="864465" cy="864465"/>
          </a:xfrm>
          <a:custGeom>
            <a:avLst/>
            <a:gdLst/>
            <a:ahLst/>
            <a:cxnLst/>
            <a:rect r="r" b="b" t="t" l="l"/>
            <a:pathLst>
              <a:path h="864465" w="864465">
                <a:moveTo>
                  <a:pt x="0" y="0"/>
                </a:moveTo>
                <a:lnTo>
                  <a:pt x="864465" y="0"/>
                </a:lnTo>
                <a:lnTo>
                  <a:pt x="864465" y="864465"/>
                </a:lnTo>
                <a:lnTo>
                  <a:pt x="0" y="8644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0835" y="4010843"/>
            <a:ext cx="16386329" cy="219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7"/>
              </a:lnSpc>
            </a:pPr>
            <a:r>
              <a:rPr lang="en-US" sz="2583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 L</a:t>
            </a:r>
            <a:r>
              <a:rPr lang="en-US" sz="2583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ab-grade insight. Maker-grade budget. Blood. Sweat. Tears. A LOT of work. Even more help from mentors.</a:t>
            </a:r>
          </a:p>
          <a:p>
            <a:pPr algn="l" marL="0" indent="0" lvl="0">
              <a:lnSpc>
                <a:spcPts val="3617"/>
              </a:lnSpc>
            </a:pPr>
          </a:p>
          <a:p>
            <a:pPr algn="l">
              <a:lnSpc>
                <a:spcPts val="6872"/>
              </a:lnSpc>
            </a:pPr>
            <a:r>
              <a:rPr lang="en-US" sz="4908">
                <a:solidFill>
                  <a:srgbClr val="1C1C1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1502" y="456565"/>
            <a:ext cx="4584995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FootSense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43655" y="-1948928"/>
            <a:ext cx="8288237" cy="7052536"/>
          </a:xfrm>
          <a:custGeom>
            <a:avLst/>
            <a:gdLst/>
            <a:ahLst/>
            <a:cxnLst/>
            <a:rect r="r" b="b" t="t" l="l"/>
            <a:pathLst>
              <a:path h="7052536" w="8288237">
                <a:moveTo>
                  <a:pt x="0" y="0"/>
                </a:moveTo>
                <a:lnTo>
                  <a:pt x="8288237" y="0"/>
                </a:lnTo>
                <a:lnTo>
                  <a:pt x="8288237" y="7052536"/>
                </a:lnTo>
                <a:lnTo>
                  <a:pt x="0" y="7052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2508" y="-593564"/>
            <a:ext cx="1029208" cy="4114800"/>
          </a:xfrm>
          <a:custGeom>
            <a:avLst/>
            <a:gdLst/>
            <a:ahLst/>
            <a:cxnLst/>
            <a:rect r="r" b="b" t="t" l="l"/>
            <a:pathLst>
              <a:path h="4114800" w="1029208">
                <a:moveTo>
                  <a:pt x="0" y="0"/>
                </a:moveTo>
                <a:lnTo>
                  <a:pt x="1029208" y="0"/>
                </a:lnTo>
                <a:lnTo>
                  <a:pt x="1029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84254" y="-441164"/>
            <a:ext cx="609924" cy="2438491"/>
          </a:xfrm>
          <a:custGeom>
            <a:avLst/>
            <a:gdLst/>
            <a:ahLst/>
            <a:cxnLst/>
            <a:rect r="r" b="b" t="t" l="l"/>
            <a:pathLst>
              <a:path h="2438491" w="609924">
                <a:moveTo>
                  <a:pt x="0" y="0"/>
                </a:moveTo>
                <a:lnTo>
                  <a:pt x="609924" y="0"/>
                </a:lnTo>
                <a:lnTo>
                  <a:pt x="609924" y="2438491"/>
                </a:lnTo>
                <a:lnTo>
                  <a:pt x="0" y="24384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39882" y="-133962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22088" y="364061"/>
            <a:ext cx="828040" cy="82804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42875" cap="sq">
              <a:solidFill>
                <a:srgbClr val="3D4B7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4362010">
            <a:off x="7820031" y="-206521"/>
            <a:ext cx="10327713" cy="13854249"/>
          </a:xfrm>
          <a:custGeom>
            <a:avLst/>
            <a:gdLst/>
            <a:ahLst/>
            <a:cxnLst/>
            <a:rect r="r" b="b" t="t" l="l"/>
            <a:pathLst>
              <a:path h="13854249" w="10327713">
                <a:moveTo>
                  <a:pt x="0" y="13854250"/>
                </a:moveTo>
                <a:lnTo>
                  <a:pt x="10327713" y="13854250"/>
                </a:lnTo>
                <a:lnTo>
                  <a:pt x="10327713" y="0"/>
                </a:lnTo>
                <a:lnTo>
                  <a:pt x="0" y="0"/>
                </a:lnTo>
                <a:lnTo>
                  <a:pt x="0" y="1385425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97468" y="8185460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8" y="0"/>
                </a:lnTo>
                <a:lnTo>
                  <a:pt x="2916968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98552" y="9301989"/>
            <a:ext cx="1197833" cy="1197833"/>
          </a:xfrm>
          <a:custGeom>
            <a:avLst/>
            <a:gdLst/>
            <a:ahLst/>
            <a:cxnLst/>
            <a:rect r="r" b="b" t="t" l="l"/>
            <a:pathLst>
              <a:path h="1197833" w="1197833">
                <a:moveTo>
                  <a:pt x="0" y="0"/>
                </a:moveTo>
                <a:lnTo>
                  <a:pt x="1197832" y="0"/>
                </a:lnTo>
                <a:lnTo>
                  <a:pt x="1197832" y="1197833"/>
                </a:lnTo>
                <a:lnTo>
                  <a:pt x="0" y="11978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388476" y="9436896"/>
            <a:ext cx="523240" cy="52324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78991" y="9757181"/>
            <a:ext cx="3086100" cy="287448"/>
            <a:chOff x="0" y="0"/>
            <a:chExt cx="812800" cy="75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5706"/>
            </a:xfrm>
            <a:custGeom>
              <a:avLst/>
              <a:gdLst/>
              <a:ahLst/>
              <a:cxnLst/>
              <a:rect r="r" b="b" t="t" l="l"/>
              <a:pathLst>
                <a:path h="75706" w="812800">
                  <a:moveTo>
                    <a:pt x="406400" y="0"/>
                  </a:moveTo>
                  <a:cubicBezTo>
                    <a:pt x="181951" y="0"/>
                    <a:pt x="0" y="16947"/>
                    <a:pt x="0" y="37853"/>
                  </a:cubicBezTo>
                  <a:cubicBezTo>
                    <a:pt x="0" y="58759"/>
                    <a:pt x="181951" y="75706"/>
                    <a:pt x="406400" y="75706"/>
                  </a:cubicBezTo>
                  <a:cubicBezTo>
                    <a:pt x="630849" y="75706"/>
                    <a:pt x="812800" y="58759"/>
                    <a:pt x="812800" y="37853"/>
                  </a:cubicBezTo>
                  <a:cubicBezTo>
                    <a:pt x="812800" y="1694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9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59578"/>
              <a:ext cx="660400" cy="12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79972" y="9736769"/>
            <a:ext cx="3086100" cy="205240"/>
            <a:chOff x="0" y="0"/>
            <a:chExt cx="812800" cy="540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54055"/>
            </a:xfrm>
            <a:custGeom>
              <a:avLst/>
              <a:gdLst/>
              <a:ahLst/>
              <a:cxnLst/>
              <a:rect r="r" b="b" t="t" l="l"/>
              <a:pathLst>
                <a:path h="54055" w="812800">
                  <a:moveTo>
                    <a:pt x="406400" y="0"/>
                  </a:moveTo>
                  <a:cubicBezTo>
                    <a:pt x="181951" y="0"/>
                    <a:pt x="0" y="12101"/>
                    <a:pt x="0" y="27028"/>
                  </a:cubicBezTo>
                  <a:cubicBezTo>
                    <a:pt x="0" y="41954"/>
                    <a:pt x="181951" y="54055"/>
                    <a:pt x="406400" y="54055"/>
                  </a:cubicBezTo>
                  <a:cubicBezTo>
                    <a:pt x="630849" y="54055"/>
                    <a:pt x="812800" y="41954"/>
                    <a:pt x="812800" y="27028"/>
                  </a:cubicBezTo>
                  <a:cubicBezTo>
                    <a:pt x="812800" y="121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9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61607"/>
              <a:ext cx="660400" cy="110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365168" y="1377547"/>
            <a:ext cx="7537738" cy="6275166"/>
          </a:xfrm>
          <a:custGeom>
            <a:avLst/>
            <a:gdLst/>
            <a:ahLst/>
            <a:cxnLst/>
            <a:rect r="r" b="b" t="t" l="l"/>
            <a:pathLst>
              <a:path h="6275166" w="7537738">
                <a:moveTo>
                  <a:pt x="0" y="0"/>
                </a:moveTo>
                <a:lnTo>
                  <a:pt x="7537737" y="0"/>
                </a:lnTo>
                <a:lnTo>
                  <a:pt x="7537737" y="6275167"/>
                </a:lnTo>
                <a:lnTo>
                  <a:pt x="0" y="62751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7045" y="800100"/>
            <a:ext cx="8315004" cy="2634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3"/>
              </a:lnSpc>
            </a:pPr>
            <a:r>
              <a:rPr lang="en-US" sz="7952" b="true">
                <a:solidFill>
                  <a:srgbClr val="1C1C1C"/>
                </a:solidFill>
                <a:latin typeface="Agrandir Bold"/>
                <a:ea typeface="Agrandir Bold"/>
                <a:cs typeface="Agrandir Bold"/>
                <a:sym typeface="Agrandir Bold"/>
              </a:rPr>
              <a:t>People We Want to Thank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6583" y="3752414"/>
            <a:ext cx="8303720" cy="671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amazing teammates we had here.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ENTIRE Maker Team: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Dakshat Sir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Anool Sir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Vaibhav Sir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 Amber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 Sushmita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Sahil Sir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 Richa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Sankalp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Kinshuk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Sovam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Gunjan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All Our friends here, and Makers Asylum 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294178" y="4506453"/>
            <a:ext cx="8303720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Simran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Adishi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Shyam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Bhoomika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Arjun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Jastin / Kalki 01 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Sebi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717789" y="7939715"/>
            <a:ext cx="598695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C1C1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watching and always supporting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DAHNkotpS0w</dc:identifier>
  <dcterms:modified xsi:type="dcterms:W3CDTF">2011-08-01T06:04:30Z</dcterms:modified>
  <cp:revision>1</cp:revision>
  <dc:title>Blue and Yellow Modern Sports Business Pitch Deck Presentation</dc:title>
</cp:coreProperties>
</file>